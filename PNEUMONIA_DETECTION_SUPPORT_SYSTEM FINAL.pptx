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76" r:id="rId5"/>
    <p:sldId id="285" r:id="rId6"/>
    <p:sldId id="297" r:id="rId7"/>
    <p:sldId id="286" r:id="rId8"/>
    <p:sldId id="287" r:id="rId9"/>
    <p:sldId id="283" r:id="rId10"/>
    <p:sldId id="259" r:id="rId11"/>
    <p:sldId id="268" r:id="rId12"/>
    <p:sldId id="269" r:id="rId13"/>
    <p:sldId id="294" r:id="rId14"/>
    <p:sldId id="262" r:id="rId15"/>
    <p:sldId id="263" r:id="rId16"/>
    <p:sldId id="271" r:id="rId17"/>
    <p:sldId id="272" r:id="rId18"/>
    <p:sldId id="273" r:id="rId19"/>
    <p:sldId id="274" r:id="rId20"/>
    <p:sldId id="267" r:id="rId21"/>
    <p:sldId id="280" r:id="rId22"/>
    <p:sldId id="281" r:id="rId23"/>
    <p:sldId id="290" r:id="rId24"/>
    <p:sldId id="291" r:id="rId25"/>
    <p:sldId id="293" r:id="rId26"/>
    <p:sldId id="265" r:id="rId27"/>
    <p:sldId id="266" r:id="rId28"/>
    <p:sldId id="296" r:id="rId29"/>
    <p:sldId id="298" r:id="rId30"/>
    <p:sldId id="299" r:id="rId31"/>
    <p:sldId id="295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70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14A44-FC9D-4B76-8687-EE9700F7751E}" type="datetimeFigureOut">
              <a:rPr lang="en-IN" smtClean="0"/>
              <a:t>12-05-2025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86A0A-27C8-47B3-AEF5-61ED69CEB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42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DFCCB-72AA-456D-9996-81EF151E958C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AE48-2D80-42B0-8E8C-FBD79B6F8060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233C-CCCC-4A1C-B316-8B576AF2C813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5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7BB6-A8BE-4134-BB53-BFC2539A0BDD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47DDB-4D13-4F38-B248-5127204DB739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BD838-CD77-4E79-A41F-2616DF8460B3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BC3DB-170D-455A-94C3-CB7426F5D501}" type="datetime1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DC7D3-7406-4016-B93A-BF296B11B1DB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0CDD8-BB33-419E-809F-AED31CF3A4BE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D796F-E405-4949-A974-83FDBDF8F5C7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49278-47DA-4870-A34D-1EFA74694022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7A6A4-5C82-419A-986E-4145AF3D5E5A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3763" y="1944456"/>
            <a:ext cx="7772400" cy="1598263"/>
          </a:xfrm>
        </p:spPr>
        <p:txBody>
          <a:bodyPr>
            <a:normAutofit/>
          </a:bodyPr>
          <a:lstStyle/>
          <a:p>
            <a:pPr marL="457189">
              <a:lnSpc>
                <a:spcPct val="150000"/>
              </a:lnSpc>
              <a:spcBef>
                <a:spcPts val="585"/>
              </a:spcBef>
            </a:pPr>
            <a:r>
              <a:rPr lang="en-US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PNEUMONIA PREDICTION AND DECISION SUPPORT SYSTEM</a:t>
            </a:r>
            <a:endParaRPr lang="en-IN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8763F-8430-5254-37AB-26F0BC2A4B9A}"/>
              </a:ext>
            </a:extLst>
          </p:cNvPr>
          <p:cNvSpPr txBox="1"/>
          <p:nvPr/>
        </p:nvSpPr>
        <p:spPr>
          <a:xfrm>
            <a:off x="6586438" y="4562699"/>
            <a:ext cx="41008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Karthikeyan.S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(412621243027)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Mohan.A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(412621243033)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Narmadha.V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(412621243034)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Sudharshan.M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(412621243050)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33C08-8C67-7138-8E95-494FF7F8D024}"/>
              </a:ext>
            </a:extLst>
          </p:cNvPr>
          <p:cNvSpPr txBox="1"/>
          <p:nvPr/>
        </p:nvSpPr>
        <p:spPr>
          <a:xfrm>
            <a:off x="2253764" y="4277036"/>
            <a:ext cx="32326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Name: 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Mrs.Hemalatha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579BA-3B4E-91C9-9408-0C2C02609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711" y="237621"/>
            <a:ext cx="4267200" cy="132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CEED02-7ADC-F2E7-1F70-B2D4E73BEF57}"/>
              </a:ext>
            </a:extLst>
          </p:cNvPr>
          <p:cNvSpPr txBox="1"/>
          <p:nvPr/>
        </p:nvSpPr>
        <p:spPr>
          <a:xfrm>
            <a:off x="4916370" y="3698448"/>
            <a:ext cx="4668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B17B5-2E30-B1D9-9117-860912231420}"/>
              </a:ext>
            </a:extLst>
          </p:cNvPr>
          <p:cNvSpPr txBox="1"/>
          <p:nvPr/>
        </p:nvSpPr>
        <p:spPr>
          <a:xfrm>
            <a:off x="2321871" y="1713622"/>
            <a:ext cx="8078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BSTRACT</a:t>
            </a:r>
            <a:endParaRPr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560" y="1397978"/>
            <a:ext cx="10546080" cy="54600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Pneumonia is a leading cause of mortality worldwide, requiring early and accurate detection. Traditional diagnostic approaches, such as manual X-ray analysis and blood test evaluation, are prone to delays and human errors. This project introduces an AI-driven Pneumonia Prediction and Decision Support System (PPDSS), integrating Deep Learning (DL) for X-ray analysis and Machine Learning (ML) for blood test evaluation. By leveraging CNN-based image classification, biomarker analysis, and AI fusion techniques, this system enhances diagnostic accuracy, speed, and accessibility.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6960" y="1600201"/>
            <a:ext cx="9875520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Overlapping Symptoms: Pneumonia shares symptoms with other respiratory diseases.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Subjectivity in X-ray Interpretation: Different radiologists may provide varying opinions.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Delay in Diagnosis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analysis takes time, delaying treatment.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Data Availability Issues: High-quality labeled datasets are scarce.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AI Model Explainability: Clinicians require interpretable AI results.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Healthcare System Integration: Seamless EMR incorporation is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B79B-DC81-F3AA-6C22-A74FCAD6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EB6E-43B6-BB7C-64C8-C6DA83F45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RESEARCH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8404A-E845-CBE4-C9E6-14FB5CD6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436" y="1810411"/>
            <a:ext cx="9985664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CheXNet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Radiologist-Level Pneumonia Detection (Stanford University)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Uses a 121-layer CNN to classify pneumonia from X-ray images.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Limitation: Requires large labeled datasets.</a:t>
            </a:r>
          </a:p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Biomarkers in Pneumonia Detection (Harvard Medical School)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Uses Random Forest for analyzing CRP and WBC count.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Limitation: Variability in blood test results.</a:t>
            </a:r>
          </a:p>
          <a:p>
            <a:pPr algn="just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Multimodal AI for Disease Prediction (MIT)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Combines imaging and clinical data using ensemble learning.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Limitation: High computational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322945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757"/>
            <a:ext cx="8229600" cy="1143000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173205"/>
              </p:ext>
            </p:extLst>
          </p:nvPr>
        </p:nvGraphicFramePr>
        <p:xfrm>
          <a:off x="1981200" y="1161758"/>
          <a:ext cx="8352256" cy="5565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468">
                <a:tc>
                  <a:txBody>
                    <a:bodyPr/>
                    <a:lstStyle/>
                    <a:p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6831">
                <a:tc>
                  <a:txBody>
                    <a:bodyPr/>
                    <a:lstStyle/>
                    <a:p>
                      <a:r>
                        <a:rPr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CheXNet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(Stanford)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DenseNet-121 CNN on X-rays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Radiologist-level accuracy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disease detection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 labeled data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 bias risk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shift performance drop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8685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Biomarker-Based (RF)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CRP, WBC used in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imaging needed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Low-cost &amp; interpretable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 usable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Biomarker variability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specificity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Possible misclassification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1547"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AI (MIT)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 of X-rays, EHR, lab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Holistic, accurate &amp; personalized</a:t>
                      </a:r>
                    </a:p>
                    <a:p>
                      <a:r>
                        <a:rPr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Outperforms single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compute cost</a:t>
                      </a:r>
                    </a:p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issues</a:t>
                      </a:r>
                    </a:p>
                    <a:p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Unstructured data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AE7976-4BA8-9C84-62DA-20A0CBB69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605770"/>
              </p:ext>
            </p:extLst>
          </p:nvPr>
        </p:nvGraphicFramePr>
        <p:xfrm>
          <a:off x="1981200" y="518899"/>
          <a:ext cx="8229600" cy="5820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08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9159">
                <a:tc>
                  <a:txBody>
                    <a:bodyPr/>
                    <a:lstStyle/>
                    <a:p>
                      <a:r>
                        <a:rPr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68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 Transformer (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-Based Models)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self-attention transformer architecture on medical images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interpretability, effective at capturing global context, flexible with various input modalities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datasets for training, high compute cost, may overfit small datasets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68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NLP-Based Clinical BERT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Pretrained BERT model fine-tuned on clinical notes and EHRs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performance on unstructured text, enables context-aware understanding, improves clinical decision support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data quality and bias, struggles with rare or ambiguous terms, requires careful fine-tuning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681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Federated Learning for Healthcare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Decentralized model training across multiple hospitals without sharing raw data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Preserves data privacy, enables collaborative model improvement.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synchronization, variable data quality across sites, slower convergence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54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33B460-CB32-B0CC-04FB-ABA8FB15F29D}"/>
              </a:ext>
            </a:extLst>
          </p:cNvPr>
          <p:cNvSpPr txBox="1"/>
          <p:nvPr/>
        </p:nvSpPr>
        <p:spPr>
          <a:xfrm>
            <a:off x="1229710" y="1363392"/>
            <a:ext cx="1004788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X-ray Analysis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Models: ResNet-50, VGG-16, DenseNet-121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pneumonia features in chest X-rays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Grad-CAM for visual interpretability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Blood Test Evaluation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 CRP, WBC, Neutrophil-Lymphocyte Ratio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Algorithms: Random Forest,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SVM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bacterial vs. viral pneumonia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Fusion Layer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CNN and lab-test features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output: Normal, Bacterial Pneumonia, Viral Pneumonia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12582-A057-1049-675B-41E7FC0F93AB}"/>
              </a:ext>
            </a:extLst>
          </p:cNvPr>
          <p:cNvSpPr txBox="1"/>
          <p:nvPr/>
        </p:nvSpPr>
        <p:spPr>
          <a:xfrm>
            <a:off x="3666837" y="323273"/>
            <a:ext cx="50777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257910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1A4FF6-DD48-664E-FBEB-9AFA9665ED3E}"/>
              </a:ext>
            </a:extLst>
          </p:cNvPr>
          <p:cNvSpPr txBox="1"/>
          <p:nvPr/>
        </p:nvSpPr>
        <p:spPr>
          <a:xfrm>
            <a:off x="1019504" y="867486"/>
            <a:ext cx="96485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Integration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Grad-CAM: Highlights infected lung regions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SHAP: Ranks biomarker importance for clinicians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API: Hospital EMR integration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AI: Portable diagnosis in rural clinics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Telemedicine: Remote patient support</a:t>
            </a:r>
          </a:p>
        </p:txBody>
      </p:sp>
    </p:spTree>
    <p:extLst>
      <p:ext uri="{BB962C8B-B14F-4D97-AF65-F5344CB8AC3E}">
        <p14:creationId xmlns:p14="http://schemas.microsoft.com/office/powerpoint/2010/main" val="1416231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A407BB-AF50-677B-B7E3-28C097306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737" y="1321597"/>
            <a:ext cx="7755467" cy="5129213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989667" y="17859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7211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358" y="659211"/>
            <a:ext cx="10447283" cy="553957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these challenges, the 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 incorporates: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X-ray Analysis – CNN models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VGG,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classification.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Blood Test Evaluation – Random Forest, 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SVM for biomarker analysis.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via Grad-CAM &amp; SHAP – Ensuring transparent AI decisions.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Fusion Model – Combining X-ray and blood test data for higher accuracy.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Edge AI Deployment – Enabling scalability for different healthcare settings.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5374-62B9-77B3-128A-F07BB0543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648" y="2154313"/>
            <a:ext cx="9963807" cy="452596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like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AlexNet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VGG16,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widely used in medical imaging.</a:t>
            </a:r>
          </a:p>
          <a:p>
            <a:pPr algn="just">
              <a:lnSpc>
                <a:spcPct val="150000"/>
              </a:lnSpc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CheXNet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(Stanford): 121-layer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radiologist-level performance on pneumonia.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VGG16: Smaller model, good for transfer learning with smaller datasets.</a:t>
            </a:r>
          </a:p>
          <a:p>
            <a:pPr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DenseNet201: Best accuracy (91.49%) in your project due to feature reuse.</a:t>
            </a:r>
          </a:p>
          <a:p>
            <a:pPr algn="just">
              <a:lnSpc>
                <a:spcPct val="150000"/>
              </a:lnSpc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XceptionNet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Separable convolutions reduce complexity while maintaining accuracy.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108B7-AF2F-57F2-BBD3-AE6ED6E822FE}"/>
              </a:ext>
            </a:extLst>
          </p:cNvPr>
          <p:cNvSpPr txBox="1"/>
          <p:nvPr/>
        </p:nvSpPr>
        <p:spPr>
          <a:xfrm>
            <a:off x="3455275" y="1277313"/>
            <a:ext cx="528144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Deep Learning in X-ray Analysis</a:t>
            </a:r>
            <a:endParaRPr lang="en-IN" sz="3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99320-AEA1-E8EA-91F9-7F79E6AC6888}"/>
              </a:ext>
            </a:extLst>
          </p:cNvPr>
          <p:cNvSpPr txBox="1"/>
          <p:nvPr/>
        </p:nvSpPr>
        <p:spPr>
          <a:xfrm>
            <a:off x="3586338" y="307980"/>
            <a:ext cx="501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ROPOSED MODULES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684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5C43-0079-4774-4E68-A23369BDE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Biomarker-Based 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6BF11-F442-8EAB-5B47-9C97E4A7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CRP, WBC, Neutrophils, and Lymphocytes are reliable pneumonia indicators.</a:t>
            </a:r>
          </a:p>
          <a:p>
            <a:pPr algn="just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Harvard research used Random Forest on blood data to support pneumonia detection.</a:t>
            </a:r>
          </a:p>
          <a:p>
            <a:pPr algn="just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Biomarkers vary based on individual health, making diagnosis complex if used alone.</a:t>
            </a:r>
          </a:p>
        </p:txBody>
      </p:sp>
    </p:spTree>
    <p:extLst>
      <p:ext uri="{BB962C8B-B14F-4D97-AF65-F5344CB8AC3E}">
        <p14:creationId xmlns:p14="http://schemas.microsoft.com/office/powerpoint/2010/main" val="1325281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FD97-1AF7-9700-A416-339093B6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 Models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193DD-1217-D55D-77D5-0A7FAE9FB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work: Combined image and clinical data using ensemble models.</a:t>
            </a: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Layers:</a:t>
            </a:r>
          </a:p>
          <a:p>
            <a:pPr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Learn from both visual (images) and physiological (clinical) inputs.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Improved generalization and cross-modality learning for better decision-making.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Demand: Requires powerful hardware for training complex models.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Imbalance: Medical datasets may have uneven distribution of conditions, affecting model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Large Labeled Datasets: Difficulty in acquiring sufficient high-quality labeled medical data.</a:t>
            </a: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21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 in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Grad-CAM for X-ray Interpretability – Highlights affected lung regions.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for Blood Test Feature Importance – Identifies key biomarkers.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Trust in AI-Based Diagnosis – Ensures transparent AI decisions.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Addressing the 'Black Box' Issue – AI models must be interpretable for clinicians.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USED-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Pneumonia Prediction and Decision Support System (PPDSS) integrates Deep Learning for image data and Machine Learning for clinical data. A fusion-based approach improves diagnostic accuracy and reliability.</a:t>
            </a:r>
          </a:p>
          <a:p>
            <a:pPr marL="0" indent="0" algn="just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(CNN) for Chest X-rays</a:t>
            </a:r>
          </a:p>
          <a:p>
            <a:pPr algn="just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for Blood Test Analysis</a:t>
            </a:r>
          </a:p>
          <a:p>
            <a:pPr algn="just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 for Multimodal Integration</a:t>
            </a:r>
          </a:p>
          <a:p>
            <a:pPr algn="just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using Adam with Categorical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4465-2E2B-76C9-B69A-6B4DDAFC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Models for Chest X-ray Analysis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7D003-6877-9CA0-58B7-22530FDF2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analyzed using three pre-trained Convolutional Neural Networks (CNNs) fine-tuned on pneumonia datasets.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VGG16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Simple architecture; effective for transfer learning.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Used as a baseline for comparison.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DenseNet201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Achieved best performance (91.49% accuracy).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Leverages dense connections to reuse features and reduce gradient loss.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XceptionNet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Uses separable convolutions to reduce parameters and improve speed.</a:t>
            </a:r>
          </a:p>
          <a:p>
            <a:pPr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51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2334-43BB-36AA-F200-5C9708665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for Blood Test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E8C0B-8393-AED8-2477-D0873DB9B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parameters such as WBC, CRP, Neutrophils, and Lymphocytes are used for pneumonia classification.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Handles non-linear feature interactions well.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Gradient-boosting technique used for performance comparison.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Effective for high-dimensional clinical data.</a:t>
            </a:r>
          </a:p>
        </p:txBody>
      </p:sp>
    </p:spTree>
    <p:extLst>
      <p:ext uri="{BB962C8B-B14F-4D97-AF65-F5344CB8AC3E}">
        <p14:creationId xmlns:p14="http://schemas.microsoft.com/office/powerpoint/2010/main" val="11531362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4C7C-C65B-964E-BB40-CCBF3713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Fusion and Final Classification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ABD76-8C6B-DB51-0794-750479F03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89391"/>
            <a:ext cx="10972800" cy="452596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fusion layer combines deep image features and clinical indicators to make final predictions.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 Layer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Combines CNN and ML feature vectors using weighted averaging.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Layers +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classifier predicts 3 classes: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Normal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Bacterial Pneumonia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Viral Pneumonia</a:t>
            </a:r>
          </a:p>
        </p:txBody>
      </p:sp>
    </p:spTree>
    <p:extLst>
      <p:ext uri="{BB962C8B-B14F-4D97-AF65-F5344CB8AC3E}">
        <p14:creationId xmlns:p14="http://schemas.microsoft.com/office/powerpoint/2010/main" val="3510191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50631-2DFC-4002-1A7B-DB979C44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DBDF-00DE-D1B7-A22D-46BACA27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optimized and evaluated using standard metrics and early stopping to prevent overfitting.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– adaptive learning rate and fast convergence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 Categorical Cross-Entropy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32               Epochs: 5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Accuracy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Precision &amp; Recall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AUC-ROC Curve</a:t>
            </a:r>
          </a:p>
        </p:txBody>
      </p:sp>
    </p:spTree>
    <p:extLst>
      <p:ext uri="{BB962C8B-B14F-4D97-AF65-F5344CB8AC3E}">
        <p14:creationId xmlns:p14="http://schemas.microsoft.com/office/powerpoint/2010/main" val="3069703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B00BA2-384F-C682-4D4F-D3969D823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9270" y="407195"/>
            <a:ext cx="5977467" cy="515672"/>
          </a:xfrm>
        </p:spPr>
        <p:txBody>
          <a:bodyPr>
            <a:noAutofit/>
          </a:bodyPr>
          <a:lstStyle/>
          <a:p>
            <a:r>
              <a:rPr lang="en-US" sz="3500" dirty="0"/>
              <a:t>Work Flow</a:t>
            </a:r>
            <a:endParaRPr lang="en-IN" sz="3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9ED96-403F-A086-1689-5B111438C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71" y="1147823"/>
            <a:ext cx="2694660" cy="5349547"/>
          </a:xfrm>
          <a:prstGeom prst="rect">
            <a:avLst/>
          </a:prstGeom>
        </p:spPr>
      </p:pic>
      <p:sp>
        <p:nvSpPr>
          <p:cNvPr id="22" name="Rectangle 16">
            <a:extLst>
              <a:ext uri="{FF2B5EF4-FFF2-40B4-BE49-F238E27FC236}">
                <a16:creationId xmlns:a16="http://schemas.microsoft.com/office/drawing/2014/main" id="{BB15C60E-BFB1-76EF-4DA0-DEB437021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83" y="1232547"/>
            <a:ext cx="51692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Input: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chest X-ray images (left &amp; right branches)</a:t>
            </a:r>
          </a:p>
        </p:txBody>
      </p:sp>
      <p:sp>
        <p:nvSpPr>
          <p:cNvPr id="24" name="Rectangle 18">
            <a:extLst>
              <a:ext uri="{FF2B5EF4-FFF2-40B4-BE49-F238E27FC236}">
                <a16:creationId xmlns:a16="http://schemas.microsoft.com/office/drawing/2014/main" id="{D1792714-42FC-78E9-80D1-BF711F96D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83" y="1684077"/>
            <a:ext cx="35360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Extraction: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Left Branch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EfficientNetB0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Right Branch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DenseNet121</a:t>
            </a: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3B1D0FD1-6E39-796F-7A48-D70CBBBB4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83" y="2509043"/>
            <a:ext cx="570620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Attention Mechanism:</a:t>
            </a:r>
          </a:p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Attention</a:t>
            </a:r>
          </a:p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Conv2D + Sigmoid.</a:t>
            </a:r>
          </a:p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Multiply operation</a:t>
            </a:r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B6F5A9D9-5EC6-FA2D-CB01-DE9A5433F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984" y="3593768"/>
            <a:ext cx="60808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Feature Reduction:	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(Global Average Pooling) 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Dense (ReLU) layers learn deep representations.</a:t>
            </a:r>
          </a:p>
        </p:txBody>
      </p:sp>
      <p:sp>
        <p:nvSpPr>
          <p:cNvPr id="30" name="Rectangle 24">
            <a:extLst>
              <a:ext uri="{FF2B5EF4-FFF2-40B4-BE49-F238E27FC236}">
                <a16:creationId xmlns:a16="http://schemas.microsoft.com/office/drawing/2014/main" id="{3A682574-4E28-642E-B5F9-158CBE18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9900" y="4604944"/>
            <a:ext cx="11993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Reshape: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7F06D461-25C6-69A7-E936-EDF8BA104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1" y="5029569"/>
            <a:ext cx="46579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Application:</a:t>
            </a:r>
          </a:p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classification of chest conditions (e.g., Pneumonia, COVID-19).</a:t>
            </a:r>
          </a:p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strengths of two CNNs + attention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accuracy.</a:t>
            </a:r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34A996B2-1E5F-0EC9-349B-E60CD92CF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3851" y="329678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75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253E52-E9DB-ADF1-9EFF-A51E6BFA6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42" y="1301339"/>
            <a:ext cx="2590800" cy="5124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D402C0-63CC-5B12-D95D-B5A80C48D383}"/>
              </a:ext>
            </a:extLst>
          </p:cNvPr>
          <p:cNvSpPr txBox="1"/>
          <p:nvPr/>
        </p:nvSpPr>
        <p:spPr>
          <a:xfrm>
            <a:off x="6896104" y="271682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6BE9B5B-B149-D5FA-ABBB-777310E90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318" y="396055"/>
            <a:ext cx="91124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Augmentation with Residual Block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5E12D19-C26C-6B52-D0C5-E001AAC49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151" y="1453618"/>
            <a:ext cx="587619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Block</a:t>
            </a:r>
          </a:p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Conv2D → BN → ReLU → Conv2D → BN</a:t>
            </a:r>
          </a:p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Shortcut path: Conv2D + BN</a:t>
            </a:r>
          </a:p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Add both paths → helps deeper learning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E918347-129E-034F-4977-116A7C440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3151" y="3031084"/>
            <a:ext cx="58087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Attention Augmentation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Dense + ReLU + BN + Dropout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Dense + Sigmoid + BN + Dropout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Learns important features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3BDD4E70-09CF-EC35-8FCE-BC4BA5B94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859" y="4552304"/>
            <a:ext cx="597144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Refinement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Final Multiply enhances key features based on learned attention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Boosts model performance by focusing on important parts of the feature map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53163117-54D8-6B5B-0B8D-38DBD63F1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971" y="5422878"/>
            <a:ext cx="6031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6610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9682970F-D544-38CA-6B4F-E69D2E276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4106" y="552260"/>
            <a:ext cx="554068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Attention Pooling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DBCA201-BFC5-9E15-7AB4-84B51845D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699" y="1666729"/>
            <a:ext cx="608910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Attention Pooling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Conv2D + Sigmoid → Creates attention map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Multiply → Highlights important features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GAP (Global Average Pooling) → Reduces feature size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B4A0C8D-AD1E-2CBC-31D3-91FE52DF8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103" y="3012699"/>
            <a:ext cx="602071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Layer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Dense + ReLU + BN + Dropout → Learns deep patterns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Dense +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Final prediction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7D814D16-C0E3-0561-B969-67F78CE68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103" y="4514163"/>
            <a:ext cx="5554727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Predicts: Normal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Pneumonia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CF3761F-9173-9CBF-AD1B-5C87B4A8E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119" y="5388885"/>
            <a:ext cx="30081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Global Average Pooling</a:t>
            </a: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Batch Normalization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44731C-BB37-C432-9B65-44FB5938B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9" y="1187764"/>
            <a:ext cx="2628900" cy="51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93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593B9D-B5DD-FA9D-9C2E-2360949FB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380627"/>
              </p:ext>
            </p:extLst>
          </p:nvPr>
        </p:nvGraphicFramePr>
        <p:xfrm>
          <a:off x="1981200" y="2330178"/>
          <a:ext cx="8229600" cy="34518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IN" sz="1900" dirty="0"/>
                        <a:t>Model</a:t>
                      </a:r>
                      <a:endParaRPr sz="1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b="1" dirty="0"/>
                        <a:t>Test Accuracy (%)</a:t>
                      </a:r>
                      <a:endParaRPr lang="en-IN" sz="1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900" b="1" dirty="0"/>
                        <a:t>Strengths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IN" sz="1900" dirty="0"/>
                        <a:t>VGG16</a:t>
                      </a:r>
                      <a:endParaRPr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87.40%</a:t>
                      </a:r>
                      <a:endParaRPr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Simple, effective for small datasets</a:t>
                      </a:r>
                      <a:endParaRPr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Higher parameters, slower inference</a:t>
                      </a:r>
                      <a:endParaRPr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r>
                        <a:rPr lang="en-IN" sz="1900" b="0" dirty="0" err="1"/>
                        <a:t>XceptionNet</a:t>
                      </a:r>
                      <a:endParaRPr lang="en-IN" sz="1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83.37%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Fast, lightweight with separable </a:t>
                      </a:r>
                      <a:r>
                        <a:rPr lang="en-US" sz="1900" dirty="0" err="1"/>
                        <a:t>convs</a:t>
                      </a:r>
                      <a:endParaRPr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Slightly lower accuracy</a:t>
                      </a:r>
                      <a:endParaRPr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endParaRPr lang="en-IN" sz="1900" dirty="0"/>
                    </a:p>
                    <a:p>
                      <a:r>
                        <a:rPr lang="en-IN" sz="1900" dirty="0"/>
                        <a:t>DenseNet201</a:t>
                      </a:r>
                      <a:endParaRPr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900" b="0" dirty="0"/>
                        <a:t>91.49%</a:t>
                      </a:r>
                    </a:p>
                    <a:p>
                      <a:endParaRPr lang="en-IN" sz="19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Best performance, efficient feature reuse</a:t>
                      </a:r>
                      <a:endParaRPr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More complex, higher memory usage</a:t>
                      </a:r>
                      <a:endParaRPr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5ABDDEF-8DF9-163F-3676-0164370C3517}"/>
              </a:ext>
            </a:extLst>
          </p:cNvPr>
          <p:cNvSpPr txBox="1"/>
          <p:nvPr/>
        </p:nvSpPr>
        <p:spPr>
          <a:xfrm>
            <a:off x="3593833" y="310421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AE07D-4D3F-BE60-44A0-646CDEB169E3}"/>
              </a:ext>
            </a:extLst>
          </p:cNvPr>
          <p:cNvSpPr txBox="1"/>
          <p:nvPr/>
        </p:nvSpPr>
        <p:spPr>
          <a:xfrm>
            <a:off x="2712383" y="1329202"/>
            <a:ext cx="7010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CNN Models</a:t>
            </a:r>
          </a:p>
        </p:txBody>
      </p:sp>
    </p:spTree>
    <p:extLst>
      <p:ext uri="{BB962C8B-B14F-4D97-AF65-F5344CB8AC3E}">
        <p14:creationId xmlns:p14="http://schemas.microsoft.com/office/powerpoint/2010/main" val="393114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E7A18B-BF2F-4EFD-A1CE-0E36687364EE}"/>
              </a:ext>
            </a:extLst>
          </p:cNvPr>
          <p:cNvSpPr txBox="1"/>
          <p:nvPr/>
        </p:nvSpPr>
        <p:spPr>
          <a:xfrm>
            <a:off x="7556303" y="1101620"/>
            <a:ext cx="2907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FIGURE 1 </a:t>
            </a:r>
            <a:r>
              <a:rPr lang="en-IN" dirty="0"/>
              <a:t>:WEB APPLICATION</a:t>
            </a:r>
          </a:p>
          <a:p>
            <a:r>
              <a:rPr lang="en-IN" dirty="0"/>
              <a:t>		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E22A2-7016-EFC4-A1DB-230A58E0EF0B}"/>
              </a:ext>
            </a:extLst>
          </p:cNvPr>
          <p:cNvSpPr txBox="1"/>
          <p:nvPr/>
        </p:nvSpPr>
        <p:spPr>
          <a:xfrm>
            <a:off x="7558456" y="4648395"/>
            <a:ext cx="2599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FIGURE 2: </a:t>
            </a:r>
            <a:r>
              <a:rPr lang="en-IN" dirty="0"/>
              <a:t>BLOOD TEST </a:t>
            </a:r>
          </a:p>
          <a:p>
            <a:r>
              <a:rPr lang="en-IN" dirty="0"/>
              <a:t>			REPORT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F1334C-AEBC-13A2-8626-FBBD5AD9D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357" y="266062"/>
            <a:ext cx="5701004" cy="31629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E165F4-B398-5925-7C92-33BCA9A59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58" y="3701656"/>
            <a:ext cx="5701004" cy="289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797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C1D796-DE9E-8AD4-6B1A-2826CF172A9A}"/>
              </a:ext>
            </a:extLst>
          </p:cNvPr>
          <p:cNvSpPr txBox="1"/>
          <p:nvPr/>
        </p:nvSpPr>
        <p:spPr>
          <a:xfrm>
            <a:off x="6535616" y="15341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940"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FIGURE 3: </a:t>
            </a:r>
            <a:r>
              <a:rPr lang="en-IN" dirty="0"/>
              <a:t>X-RAY PREDICTION</a:t>
            </a:r>
            <a:endParaRPr lang="en-IN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50109-70A3-D095-5AE3-D41F9D18F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225" y="5511168"/>
            <a:ext cx="4932876" cy="1014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8DA76A-E819-BC85-6E2F-09371CE7B423}"/>
              </a:ext>
            </a:extLst>
          </p:cNvPr>
          <p:cNvSpPr txBox="1"/>
          <p:nvPr/>
        </p:nvSpPr>
        <p:spPr>
          <a:xfrm>
            <a:off x="7590692" y="5790727"/>
            <a:ext cx="2288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Test </a:t>
            </a:r>
            <a:r>
              <a:rPr lang="en-IN" dirty="0" err="1"/>
              <a:t>Acurracy</a:t>
            </a:r>
            <a:r>
              <a:rPr lang="en-IN" dirty="0"/>
              <a:t> and Loss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B02CB8-09E3-4816-C4D2-EAC8B8916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225" y="3768508"/>
            <a:ext cx="3716020" cy="11239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179073-3F10-4A17-8015-BADB498EF828}"/>
              </a:ext>
            </a:extLst>
          </p:cNvPr>
          <p:cNvSpPr txBox="1"/>
          <p:nvPr/>
        </p:nvSpPr>
        <p:spPr>
          <a:xfrm>
            <a:off x="7423641" y="4046755"/>
            <a:ext cx="2354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Test Accuracy of Model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461AF8-0E72-6932-A0C2-745865E77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711" y="103166"/>
            <a:ext cx="5080393" cy="355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775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Clinical Validation – Conduct trials with hospitals.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Expansion – Include diverse patient populations.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– Improve accuracy while reducing computational costs.</a:t>
            </a:r>
          </a:p>
          <a:p>
            <a:pPr algn="just"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– Ensure HIPAA/GDPR compliance for patient data security.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Pneumonia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and Decision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System (P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DSS) integrates AI-driven methodologies to enhance pneumonia diagnosis by combining X-ray imaging and blood test analysis. With a focus on accuracy, interpretability, and scalability, PDSS is a promising solution for hospitals, telemedicine, and rural healthcare.</a:t>
            </a:r>
          </a:p>
          <a:p>
            <a:pPr algn="just"/>
            <a:endParaRPr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real-world clinical trials, dataset expansion, and regulatory approval.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01952A-EF25-627D-B875-151BEB014552}"/>
              </a:ext>
            </a:extLst>
          </p:cNvPr>
          <p:cNvSpPr txBox="1"/>
          <p:nvPr/>
        </p:nvSpPr>
        <p:spPr>
          <a:xfrm>
            <a:off x="809295" y="1439055"/>
            <a:ext cx="1057340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		Alaa M. 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Barhoom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Prof. Dr. Samy S. Abu Naser, (2022), “Diagnosis of Pneumonia 		Using Deep Learning International Journal of Academic Engineering Research”, Vol. 6 			(Issue 2), pp. 48-68.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 		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Albawi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S.; Mohammed, T.A.; Al-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Zawi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S, (2017), “Understanding of a convolutional neural 		network”, 2017 International Conference on Engineering and Technology (ICET), Antalya, 		Turkey, 21–23 August 2017, pp. 1–6.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		Ali Sharif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Razavian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Hossein Azizpour, Josephine Sullivan, and Stefan Carlsson, (2014), 			“CNN features off-the-shelf: an astounding baseline for recognition”, in proceedings of IEEE 		Conference on Computer Vision and Pattern Recognition workshops, pp. 806 - 813.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[4] 		M. Anthopoulos, S.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Christodoulidis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Ebner, A. Christe,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S.Mougiakakou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(2016), 			"Lung Pattern Classification for Interstitial Lung Diseases Using a Deep Convolutional 			Neural Network," in IEEE Transactions on Medical Imaging, vol. 35, (Issue no. 5), pp. 1207-		1216.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72EFB-A7F1-1C29-5EC1-673A5225070F}"/>
              </a:ext>
            </a:extLst>
          </p:cNvPr>
          <p:cNvSpPr txBox="1"/>
          <p:nvPr/>
        </p:nvSpPr>
        <p:spPr>
          <a:xfrm>
            <a:off x="4212930" y="383626"/>
            <a:ext cx="376613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95605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6E3AC6-8407-C03F-63D4-AC2B2BAE85AF}"/>
              </a:ext>
            </a:extLst>
          </p:cNvPr>
          <p:cNvSpPr txBox="1"/>
          <p:nvPr/>
        </p:nvSpPr>
        <p:spPr>
          <a:xfrm>
            <a:off x="914400" y="624071"/>
            <a:ext cx="10205543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[5] 	D.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Demner-Fushman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M.D. Kohli, M.B. Rosenman, S.E. Shooshan, L. 				Rodriguez, S.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Antani,G.R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Thoma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C.J. McDonald, (2016), “Preparing a 			collection of radiology examinations for distribution and retrieval”, J Am Med 		Inform Assoc, Vol 23(2), pp.304 – 10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		Dev Kumar Das, Madhumala Ghosh, Mallika Pal, Asok K Maiti, Chandan 			Chakraborty, (2013), “Machine learning approach for automated screening of 		malaria parasite using light microscopic images”, Micron 45, pp. 97-106.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		X.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Glorot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Y. Bengio, (2010), "Understanding the difficulty of training deep 		feedforward neural networks", Proceedings of the thirteenth International 			Conference on Artificial Intelligence and Statistics, pp. 249-256. 57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[8] 	Kai-Lung Hua, Che-Hao Hsu,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Shintami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Chusnul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Hidayati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WenHuang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Cheng, 		and Yu-Jen Chen, (2015), “Computer-aided classification of lung nodules on 			computed tomography images via deep learning technique”,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OncoTargets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		therapy, vol 8, pp. 506 - 513</a:t>
            </a:r>
          </a:p>
        </p:txBody>
      </p:sp>
    </p:spTree>
    <p:extLst>
      <p:ext uri="{BB962C8B-B14F-4D97-AF65-F5344CB8AC3E}">
        <p14:creationId xmlns:p14="http://schemas.microsoft.com/office/powerpoint/2010/main" val="2331088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175F7-54C1-CD69-6188-5ABC684FBBD0}"/>
              </a:ext>
            </a:extLst>
          </p:cNvPr>
          <p:cNvSpPr txBox="1"/>
          <p:nvPr/>
        </p:nvSpPr>
        <p:spPr>
          <a:xfrm>
            <a:off x="567559" y="937159"/>
            <a:ext cx="106469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	Mahdieh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Poostchi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Kamolrat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Silamut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Richard Maude, Stefan Jaeger, George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Thoma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		(2018), “Image analysis and machine learning for detecting malaria”, Translational 		Research, Vol 194, pp. 36-55.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	S. Militante, (2019),"Fruit Grading of Garcinia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Binucao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(Batuan) using Image 			Processing.", International Journal of Recent Technology and Engineering (IJRTE), 		vol 8.2, pp. 1829-1832. </a:t>
            </a: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	S. V. Militante, B. D. Gerardo, and N. V. Dionisio, (2019), "Plant Leaf Detection and 		Disease Recognition using Deep Learning,", IEEE Eurasia Conference on IoT, 			Communication and Engineering (ECICE), Yunlin, Taiwan, pp. 579-582. [14] S. V. 		Militante, and B. G.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Sibbaluca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,(2020), “Pneumonia Detection Using Convolutional 		Neural Networks”, International Journal of Scientific &amp; Technology Research, 			Volume 9( Issue 04), pp. 1332-1337.</a:t>
            </a:r>
          </a:p>
        </p:txBody>
      </p:sp>
    </p:spTree>
    <p:extLst>
      <p:ext uri="{BB962C8B-B14F-4D97-AF65-F5344CB8AC3E}">
        <p14:creationId xmlns:p14="http://schemas.microsoft.com/office/powerpoint/2010/main" val="1093730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259AF-E167-360C-DF55-D00F51C7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977" y="2710107"/>
            <a:ext cx="8229600" cy="1143000"/>
          </a:xfrm>
        </p:spPr>
        <p:txBody>
          <a:bodyPr>
            <a:noAutofit/>
          </a:bodyPr>
          <a:lstStyle/>
          <a:p>
            <a:r>
              <a:rPr lang="en-IN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8307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2443</Words>
  <Application>Microsoft Office PowerPoint</Application>
  <PresentationFormat>Widescreen</PresentationFormat>
  <Paragraphs>294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PNEUMONIA PREDICTION AND DECISION SUPPORT SYSTEM</vt:lpstr>
      <vt:lpstr>ABSTRACT</vt:lpstr>
      <vt:lpstr>CHALLENGES</vt:lpstr>
      <vt:lpstr>EXISTING RESEARCH</vt:lpstr>
      <vt:lpstr>LITERATURE SURVEY (Table)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Biomarker-Based Diagnosis</vt:lpstr>
      <vt:lpstr>Multimodal AI Models</vt:lpstr>
      <vt:lpstr>Explainable AI (XAI) in Healthcare</vt:lpstr>
      <vt:lpstr>ALGORITHMS USED- Overview</vt:lpstr>
      <vt:lpstr>CNN Models for Chest X-ray Analysis</vt:lpstr>
      <vt:lpstr>ML Models for Blood Test Analysis</vt:lpstr>
      <vt:lpstr>Feature Fusion and Final Classification</vt:lpstr>
      <vt:lpstr>Optimization and Evaluation</vt:lpstr>
      <vt:lpstr>Work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WORK</vt:lpstr>
      <vt:lpstr>CONCLUSION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Narmadha.V</dc:creator>
  <cp:keywords/>
  <dc:description>generated using python-pptx</dc:description>
  <cp:lastModifiedBy>Narmadha V</cp:lastModifiedBy>
  <cp:revision>20</cp:revision>
  <dcterms:created xsi:type="dcterms:W3CDTF">2013-01-27T09:14:16Z</dcterms:created>
  <dcterms:modified xsi:type="dcterms:W3CDTF">2025-05-12T16:06:21Z</dcterms:modified>
  <cp:category/>
</cp:coreProperties>
</file>